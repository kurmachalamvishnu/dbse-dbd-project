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01" y="-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99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Clinics Mobile App for Patient Self Service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21  |  Section: 03  |  Members: K. Vishnu – 2520030199, U. Vidhath – 2520030597, K. Poojitha Sai – 2520030103  |  Guide: Dr. </a:t>
            </a:r>
            <a:r>
              <a:rPr lang="en-US" sz="120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Spandana.S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mobile self-service app for patients and clinics: book appointments, view medical history, get push alerts and file insurance claims.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Android (Kotlin, Jetpack Compose), Node.js REST API, MySQL and Room DB offline cache, reducing paperwork and clinic admin workload.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phone- and paper-based booking, records and claims cause long waits, low transparency and heavy staff workload.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app for appointments, profile and medical history.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 MySQL + REST data management with offline access.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FCM alerts and faster insurance claim handling.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doctors; profile, appointments, history, claims and billing, notifications, background sync.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264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calls / walk-ins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booking with offline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paper-based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history and reports on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real-time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FCM push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paper-based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claim and billing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platform; heavy staff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self-service platform: Android + Node.js + MySQL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Kotlin, Jetpack Compose, Node.js and MySQL are well documented; Android Studio and Postman are freely available.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with free-tier Firebase Cloud Messaging, so no licence cost.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self-service UI for patients; less routine work for clinic staff; easy to maintain.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completion within the PBL trimester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(Kotlin, Jetpack Compose)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(offline access)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REST APIs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(FCM)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Git &amp; GitHub, Postman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 screenshot 1 here (e.g. Home / Appointments)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 screenshot 2 here (e.g. Medical History / Claims)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checks: CRUD, input validation and sync via Postman.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SQL queries for quick record retrieval.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for appointments, history and claims.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objectives: less paperwork, more transparency, faster claims.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health recommendations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(IoT) integration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consultations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health analytics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Android Developers: Jetpack Compose &amp; Room, developer.android.com   [2] Firebase Cloud Messaging docs, firebase.google.com/docs/cloud-messaging   [3] MySQL Reference Manual, dev.mysql.com/doc   [4] Node.js Docs, nodejs.org/docs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1" name="Diagram 101"/>
          <p:cNvSpPr/>
          <p:nvPr/>
        </p:nvSpPr>
        <p:spPr>
          <a:xfrm>
            <a:off x="5712714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1E293B"/>
                </a:solidFill>
                <a:latin typeface="Calibri"/>
              </a:rPr>
              <a:t>Android Application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Kotlin + Jetpack Compose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Room DB offline cache</a:t>
            </a:r>
          </a:p>
        </p:txBody>
      </p:sp>
      <p:sp>
        <p:nvSpPr>
          <p:cNvPr id="102" name="Diagram 102"/>
          <p:cNvSpPr/>
          <p:nvPr/>
        </p:nvSpPr>
        <p:spPr>
          <a:xfrm>
            <a:off x="7311771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DD6FE"/>
          </a:solidFill>
          <a:ln w="12700">
            <a:solidFill>
              <a:srgbClr val="6D28D9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1E293B"/>
                </a:solidFill>
                <a:latin typeface="Calibri"/>
              </a:rPr>
              <a:t>Node.js REST API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Auth, Appointments,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History, Claims</a:t>
            </a:r>
          </a:p>
        </p:txBody>
      </p:sp>
      <p:sp>
        <p:nvSpPr>
          <p:cNvPr id="103" name="Diagram 103"/>
          <p:cNvSpPr/>
          <p:nvPr/>
        </p:nvSpPr>
        <p:spPr>
          <a:xfrm>
            <a:off x="8910828" y="5166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1E293B"/>
                </a:solidFill>
                <a:latin typeface="Calibri"/>
              </a:rPr>
              <a:t>MySQL Database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Patients, Doctors,</a:t>
            </a:r>
          </a:p>
          <a:p>
            <a:pPr algn="ctr"/>
            <a:r>
              <a:rPr lang="en-US" sz="1050" dirty="0">
                <a:solidFill>
                  <a:srgbClr val="1E293B"/>
                </a:solidFill>
                <a:latin typeface="Calibri"/>
              </a:rPr>
              <a:t>Appointments, Claims</a:t>
            </a:r>
          </a:p>
        </p:txBody>
      </p:sp>
      <p:cxnSp>
        <p:nvCxnSpPr>
          <p:cNvPr id="104" name="Line 104"/>
          <p:cNvCxnSpPr/>
          <p:nvPr/>
        </p:nvCxnSpPr>
        <p:spPr>
          <a:xfrm>
            <a:off x="6901434" y="5486400"/>
            <a:ext cx="410337" cy="0"/>
          </a:xfrm>
          <a:prstGeom prst="line">
            <a:avLst/>
          </a:prstGeom>
          <a:ln w="15875">
            <a:solidFill>
              <a:srgbClr val="6D28D9"/>
            </a:solidFill>
            <a:tailEnd type="triangle" w="med" len="med"/>
          </a:ln>
        </p:spPr>
      </p:cxnSp>
      <p:cxnSp>
        <p:nvCxnSpPr>
          <p:cNvPr id="105" name="Line 105"/>
          <p:cNvCxnSpPr/>
          <p:nvPr/>
        </p:nvCxnSpPr>
        <p:spPr>
          <a:xfrm flipH="1">
            <a:off x="6901434" y="5760720"/>
            <a:ext cx="410337" cy="0"/>
          </a:xfrm>
          <a:prstGeom prst="line">
            <a:avLst/>
          </a:prstGeom>
          <a:ln w="15875">
            <a:solidFill>
              <a:srgbClr val="6D28D9"/>
            </a:solidFill>
            <a:tailEnd type="triangle" w="med" len="med"/>
          </a:ln>
        </p:spPr>
      </p:cxnSp>
      <p:cxnSp>
        <p:nvCxnSpPr>
          <p:cNvPr id="106" name="Line 106"/>
          <p:cNvCxnSpPr/>
          <p:nvPr/>
        </p:nvCxnSpPr>
        <p:spPr>
          <a:xfrm>
            <a:off x="8500491" y="5486400"/>
            <a:ext cx="410337" cy="0"/>
          </a:xfrm>
          <a:prstGeom prst="line">
            <a:avLst/>
          </a:prstGeom>
          <a:ln w="15875">
            <a:solidFill>
              <a:srgbClr val="6D28D9"/>
            </a:solidFill>
            <a:tailEnd type="triangle" w="med" len="med"/>
          </a:ln>
        </p:spPr>
      </p:cxnSp>
      <p:cxnSp>
        <p:nvCxnSpPr>
          <p:cNvPr id="107" name="Line 107"/>
          <p:cNvCxnSpPr/>
          <p:nvPr/>
        </p:nvCxnSpPr>
        <p:spPr>
          <a:xfrm flipH="1">
            <a:off x="8500491" y="5760720"/>
            <a:ext cx="410337" cy="0"/>
          </a:xfrm>
          <a:prstGeom prst="line">
            <a:avLst/>
          </a:prstGeom>
          <a:ln w="15875">
            <a:solidFill>
              <a:srgbClr val="6D28D9"/>
            </a:solidFill>
            <a:tailEnd type="triangle" w="med" len="med"/>
          </a:ln>
        </p:spPr>
      </p:cxnSp>
      <p:sp>
        <p:nvSpPr>
          <p:cNvPr id="108" name="Label 108"/>
          <p:cNvSpPr txBox="1"/>
          <p:nvPr/>
        </p:nvSpPr>
        <p:spPr>
          <a:xfrm>
            <a:off x="6901434" y="5212080"/>
            <a:ext cx="410337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800" i="1" dirty="0">
                <a:solidFill>
                  <a:srgbClr val="6D28D9"/>
                </a:solidFill>
                <a:latin typeface="Calibri"/>
              </a:rPr>
              <a:t>HTTPS/JSON</a:t>
            </a:r>
          </a:p>
        </p:txBody>
      </p:sp>
      <p:sp>
        <p:nvSpPr>
          <p:cNvPr id="109" name="Label 109"/>
          <p:cNvSpPr txBox="1"/>
          <p:nvPr/>
        </p:nvSpPr>
        <p:spPr>
          <a:xfrm>
            <a:off x="8500491" y="5212080"/>
            <a:ext cx="410337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800" i="1" dirty="0">
                <a:solidFill>
                  <a:srgbClr val="6D28D9"/>
                </a:solidFill>
                <a:latin typeface="Calibri"/>
              </a:rPr>
              <a:t>SQL</a:t>
            </a:r>
          </a:p>
        </p:txBody>
      </p:sp>
      <p:sp>
        <p:nvSpPr>
          <p:cNvPr id="110" name="Diagram 110"/>
          <p:cNvSpPr/>
          <p:nvPr/>
        </p:nvSpPr>
        <p:spPr>
          <a:xfrm>
            <a:off x="7220331" y="6400800"/>
            <a:ext cx="1371600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78350F"/>
                </a:solidFill>
                <a:latin typeface="Calibri"/>
              </a:rPr>
              <a:t>Firebase Cloud</a:t>
            </a:r>
          </a:p>
          <a:p>
            <a:pPr algn="ctr"/>
            <a:r>
              <a:rPr lang="en-US" sz="1000" dirty="0">
                <a:solidFill>
                  <a:srgbClr val="78350F"/>
                </a:solidFill>
                <a:latin typeface="Calibri"/>
              </a:rPr>
              <a:t>Messaging (FCM)</a:t>
            </a:r>
          </a:p>
        </p:txBody>
      </p:sp>
      <p:cxnSp>
        <p:nvCxnSpPr>
          <p:cNvPr id="111" name="Line 111"/>
          <p:cNvCxnSpPr/>
          <p:nvPr/>
        </p:nvCxnSpPr>
        <p:spPr>
          <a:xfrm>
            <a:off x="7906131" y="6080760"/>
            <a:ext cx="0" cy="320040"/>
          </a:xfrm>
          <a:prstGeom prst="line">
            <a:avLst/>
          </a:prstGeom>
          <a:ln w="15875">
            <a:solidFill>
              <a:srgbClr val="B45309"/>
            </a:solidFill>
            <a:tailEnd type="triangle" w="med" len="med"/>
          </a:ln>
        </p:spPr>
      </p:cxnSp>
      <p:cxnSp>
        <p:nvCxnSpPr>
          <p:cNvPr id="112" name="Line 112"/>
          <p:cNvCxnSpPr/>
          <p:nvPr/>
        </p:nvCxnSpPr>
        <p:spPr>
          <a:xfrm flipH="1">
            <a:off x="6307074" y="6675120"/>
            <a:ext cx="913257" cy="0"/>
          </a:xfrm>
          <a:prstGeom prst="line">
            <a:avLst/>
          </a:prstGeom>
          <a:ln w="15875">
            <a:solidFill>
              <a:srgbClr val="B45309"/>
            </a:solidFill>
          </a:ln>
        </p:spPr>
      </p:cxnSp>
      <p:cxnSp>
        <p:nvCxnSpPr>
          <p:cNvPr id="113" name="Line 113"/>
          <p:cNvCxnSpPr/>
          <p:nvPr/>
        </p:nvCxnSpPr>
        <p:spPr>
          <a:xfrm flipV="1">
            <a:off x="6307074" y="6080760"/>
            <a:ext cx="0" cy="594360"/>
          </a:xfrm>
          <a:prstGeom prst="line">
            <a:avLst/>
          </a:prstGeom>
          <a:ln w="15875">
            <a:solidFill>
              <a:srgbClr val="B45309"/>
            </a:solidFill>
            <a:tailEnd type="triangle" w="med" len="med"/>
          </a:ln>
        </p:spPr>
      </p:cxnSp>
      <p:sp>
        <p:nvSpPr>
          <p:cNvPr id="114" name="Label 114"/>
          <p:cNvSpPr txBox="1"/>
          <p:nvPr/>
        </p:nvSpPr>
        <p:spPr>
          <a:xfrm>
            <a:off x="6352794" y="644652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800" i="1" dirty="0">
                <a:solidFill>
                  <a:srgbClr val="B45309"/>
                </a:solidFill>
                <a:latin typeface="Calibri"/>
              </a:rPr>
              <a:t>push alerts</a:t>
            </a:r>
          </a:p>
        </p:txBody>
      </p:sp>
      <p:sp>
        <p:nvSpPr>
          <p:cNvPr id="115" name="Diagram 115"/>
          <p:cNvSpPr/>
          <p:nvPr/>
        </p:nvSpPr>
        <p:spPr>
          <a:xfrm>
            <a:off x="5666994" y="7927848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PATIENT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patient_id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name, dob, phone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email, address</a:t>
            </a:r>
          </a:p>
        </p:txBody>
      </p:sp>
      <p:sp>
        <p:nvSpPr>
          <p:cNvPr id="116" name="Diagram 116"/>
          <p:cNvSpPr/>
          <p:nvPr/>
        </p:nvSpPr>
        <p:spPr>
          <a:xfrm>
            <a:off x="7243191" y="7927848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APPOINTMENT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appt_id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FK patient_id, FK doctor_id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date_time, status</a:t>
            </a:r>
          </a:p>
        </p:txBody>
      </p:sp>
      <p:sp>
        <p:nvSpPr>
          <p:cNvPr id="117" name="Diagram 117"/>
          <p:cNvSpPr/>
          <p:nvPr/>
        </p:nvSpPr>
        <p:spPr>
          <a:xfrm>
            <a:off x="8819388" y="7927848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DOCTOR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doctor_id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name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specialization</a:t>
            </a:r>
          </a:p>
        </p:txBody>
      </p:sp>
      <p:sp>
        <p:nvSpPr>
          <p:cNvPr id="118" name="Diagram 118"/>
          <p:cNvSpPr/>
          <p:nvPr/>
        </p:nvSpPr>
        <p:spPr>
          <a:xfrm>
            <a:off x="5666994" y="8897112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INSURANCE_CLAIM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claim_id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FK patient_id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amount, status</a:t>
            </a:r>
          </a:p>
        </p:txBody>
      </p:sp>
      <p:sp>
        <p:nvSpPr>
          <p:cNvPr id="119" name="Diagram 119"/>
          <p:cNvSpPr/>
          <p:nvPr/>
        </p:nvSpPr>
        <p:spPr>
          <a:xfrm>
            <a:off x="7243191" y="8897112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BILLING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bill_id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FK appt_id, FK claim_id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amount, paid_status</a:t>
            </a:r>
          </a:p>
        </p:txBody>
      </p:sp>
      <p:sp>
        <p:nvSpPr>
          <p:cNvPr id="120" name="Diagram 120"/>
          <p:cNvSpPr/>
          <p:nvPr/>
        </p:nvSpPr>
        <p:spPr>
          <a:xfrm>
            <a:off x="8819388" y="8897112"/>
            <a:ext cx="1325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lang="en-US" sz="900" b="1" dirty="0">
                <a:solidFill>
                  <a:srgbClr val="7C2D12"/>
                </a:solidFill>
                <a:latin typeface="Calibri"/>
              </a:rPr>
              <a:t>MEDICAL_RECORD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PK record_id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FK patient_id, FK doctor_id</a:t>
            </a:r>
          </a:p>
          <a:p>
            <a:pPr algn="ctr"/>
            <a:r>
              <a:rPr lang="en-US" sz="900" dirty="0">
                <a:solidFill>
                  <a:srgbClr val="7C2D12"/>
                </a:solidFill>
                <a:latin typeface="Calibri"/>
              </a:rPr>
              <a:t>diagnosis, prescription</a:t>
            </a:r>
          </a:p>
        </p:txBody>
      </p:sp>
      <p:cxnSp>
        <p:nvCxnSpPr>
          <p:cNvPr id="121" name="Line 121"/>
          <p:cNvCxnSpPr/>
          <p:nvPr/>
        </p:nvCxnSpPr>
        <p:spPr>
          <a:xfrm>
            <a:off x="6992874" y="8339328"/>
            <a:ext cx="250317" cy="0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22" name="Label 122"/>
          <p:cNvSpPr txBox="1"/>
          <p:nvPr/>
        </p:nvSpPr>
        <p:spPr>
          <a:xfrm>
            <a:off x="6992874" y="8156448"/>
            <a:ext cx="250317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1 : N</a:t>
            </a:r>
          </a:p>
        </p:txBody>
      </p:sp>
      <p:cxnSp>
        <p:nvCxnSpPr>
          <p:cNvPr id="123" name="Line 123"/>
          <p:cNvCxnSpPr/>
          <p:nvPr/>
        </p:nvCxnSpPr>
        <p:spPr>
          <a:xfrm>
            <a:off x="8569071" y="8339328"/>
            <a:ext cx="250317" cy="0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24" name="Label 124"/>
          <p:cNvSpPr txBox="1"/>
          <p:nvPr/>
        </p:nvSpPr>
        <p:spPr>
          <a:xfrm>
            <a:off x="8569071" y="8156448"/>
            <a:ext cx="250317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N : 1</a:t>
            </a:r>
          </a:p>
        </p:txBody>
      </p:sp>
      <p:cxnSp>
        <p:nvCxnSpPr>
          <p:cNvPr id="125" name="Line 125"/>
          <p:cNvCxnSpPr/>
          <p:nvPr/>
        </p:nvCxnSpPr>
        <p:spPr>
          <a:xfrm>
            <a:off x="6329934" y="8750808"/>
            <a:ext cx="0" cy="146304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26" name="Label 126"/>
          <p:cNvSpPr txBox="1"/>
          <p:nvPr/>
        </p:nvSpPr>
        <p:spPr>
          <a:xfrm>
            <a:off x="6366510" y="8759952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1 : N</a:t>
            </a:r>
          </a:p>
        </p:txBody>
      </p:sp>
      <p:cxnSp>
        <p:nvCxnSpPr>
          <p:cNvPr id="127" name="Line 127"/>
          <p:cNvCxnSpPr/>
          <p:nvPr/>
        </p:nvCxnSpPr>
        <p:spPr>
          <a:xfrm>
            <a:off x="7906131" y="8750808"/>
            <a:ext cx="0" cy="146304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28" name="Label 128"/>
          <p:cNvSpPr txBox="1"/>
          <p:nvPr/>
        </p:nvSpPr>
        <p:spPr>
          <a:xfrm>
            <a:off x="7942707" y="8759952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1 : 1</a:t>
            </a:r>
          </a:p>
        </p:txBody>
      </p:sp>
      <p:cxnSp>
        <p:nvCxnSpPr>
          <p:cNvPr id="129" name="Line 129"/>
          <p:cNvCxnSpPr/>
          <p:nvPr/>
        </p:nvCxnSpPr>
        <p:spPr>
          <a:xfrm>
            <a:off x="9482328" y="8750808"/>
            <a:ext cx="0" cy="146304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30" name="Label 130"/>
          <p:cNvSpPr txBox="1"/>
          <p:nvPr/>
        </p:nvSpPr>
        <p:spPr>
          <a:xfrm>
            <a:off x="9518904" y="8759952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1 : N</a:t>
            </a:r>
          </a:p>
        </p:txBody>
      </p:sp>
      <p:cxnSp>
        <p:nvCxnSpPr>
          <p:cNvPr id="131" name="Line 131"/>
          <p:cNvCxnSpPr/>
          <p:nvPr/>
        </p:nvCxnSpPr>
        <p:spPr>
          <a:xfrm>
            <a:off x="6992874" y="9308592"/>
            <a:ext cx="250317" cy="0"/>
          </a:xfrm>
          <a:prstGeom prst="line">
            <a:avLst/>
          </a:prstGeom>
          <a:ln w="15875">
            <a:solidFill>
              <a:srgbClr val="C2410C"/>
            </a:solidFill>
          </a:ln>
        </p:spPr>
      </p:cxnSp>
      <p:sp>
        <p:nvSpPr>
          <p:cNvPr id="132" name="Label 132"/>
          <p:cNvSpPr txBox="1"/>
          <p:nvPr/>
        </p:nvSpPr>
        <p:spPr>
          <a:xfrm>
            <a:off x="6992874" y="9125712"/>
            <a:ext cx="250317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750" i="1" dirty="0">
                <a:solidFill>
                  <a:srgbClr val="C2410C"/>
                </a:solidFill>
                <a:latin typeface="Calibri"/>
              </a:rPr>
              <a:t>1 : N</a:t>
            </a:r>
          </a:p>
        </p:txBody>
      </p:sp>
      <p:pic>
        <p:nvPicPr>
          <p:cNvPr id="900" name="KLH Logo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77898"/>
            <a:ext cx="1188720" cy="5644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94BFDF-DC70-C519-4B17-113B8653E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521813"/>
            <a:ext cx="2216277" cy="17768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943CE4-3195-4B90-2BCB-C652B2FF8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203" y="10521813"/>
            <a:ext cx="2216277" cy="17768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711</Words>
  <Application>Microsoft Office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Vishnu Kurmachalam</cp:lastModifiedBy>
  <cp:revision>4</cp:revision>
  <dcterms:created xsi:type="dcterms:W3CDTF">2026-09-28T08:11:17Z</dcterms:created>
  <dcterms:modified xsi:type="dcterms:W3CDTF">2026-10-02T05:25:24Z</dcterms:modified>
</cp:coreProperties>
</file>